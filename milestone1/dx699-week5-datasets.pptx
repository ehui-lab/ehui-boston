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Hold-out accuracy</c:v>
                </c:pt>
              </c:strCache>
            </c:strRef>
          </c:tx>
          <c:spPr>
            <a:solidFill>
              <a:srgbClr val="1B365D"/>
            </a:solidFill>
          </c:spPr>
          <c:cat>
            <c:strRef>
              <c:f>Sheet1!$A$2:$A$4</c:f>
              <c:strCache>
                <c:ptCount val="3"/>
                <c:pt idx="0">
                  <c:v>Majority baseline</c:v>
                </c:pt>
                <c:pt idx="1">
                  <c:v>Decision tree (depth 3)</c:v>
                </c:pt>
                <c:pt idx="2">
                  <c:v>Linear discriminant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0.735</c:v>
                </c:pt>
                <c:pt idx="1">
                  <c:v>0.782</c:v>
                </c:pt>
                <c:pt idx="2">
                  <c:v>0.787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>
                  <a:solidFill>
                    <a:srgbClr val="22222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6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Five datasets for Milestone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DX699 AI for Leaders  ·  Week 5 slideshow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3E0"/>
                </a:solidFill>
                <a:latin typeface="Calibri"/>
              </a:rPr>
              <a:t>Ka Tsun Hui  ·  Module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five datasets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SPY options, 31 Dec 2024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9,646 x 23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One listed contract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China passenger-vehicle sales (CPCA)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38,806 x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One model-month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Ultimate Spotify Tracks DB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Entertainment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114,000 x 20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One track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The Movies Dataset (TMDB)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Entertainment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45,466 x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One film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FINRA short interest, 30 Sep 2026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22,581 x 14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One stock, one date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Three industries. Mixed numeric, categorical, text, and nested JSON. Dataset 5 is one FINRA settlement date, not a stacked panel.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  SPY equity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Value: a full listed chain with quotes, volume, open interest, IV, and Greeks in one table.
Why it is interesting to me: I value derivatives at a Hong Kong hedge fund. This is a direct empirical check of the volatility smile.
Questions: Can a model recover IV from moneyness and expiry? Do the Greeks behave as the textbooks say? What drives IV more, moneyness, expiry, or liquidity?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Sample (first three rows used in the paper)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42900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contract_id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strike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last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SPY250207C00594000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594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7.80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0.132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SPY250207P00594000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12.94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SPY250207C00595000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595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7.39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0.132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  China passenger-vehicle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Value: official CPCA registrations through the EV transition, with brand, body, price band, and an EV flag.
Why it is interesting to me: the demand side of the largest industrial shift I have lived through.
Questions: Which attributes predicted electrification? Did the January 2023 subsidy end change price elasticity? Where does a seasonal baseline break?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Sample (first three rows used in the paper)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42900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year_month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is_ev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2022-11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Tesla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Model Y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69,098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2022-11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Wuling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Hongguang MINIEV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68,567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2022-11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BYD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Song PLUS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64,145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  Spotify track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Value: 114,000 tracks with audio features and a popularity score, balanced across 114 genres.
Why it is interesting to me: I listen to this market every day and want to know which sonic attributes it rewards.
Questions: Which features predict popularity? Do tracks cluster into stable archetypes for playlists?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Sample (first three rows used in the paper)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42900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artists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track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popularity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danceability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genre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Gen Hoshino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Comedy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0.676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acoustic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Ben Woodward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Ghost - Acoustic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acoustic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Ingrid Michaelson;ZAYN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To Begin Again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0.438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acoustic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  TMDB movie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Value: budget, revenue, votes, free text, and nested JSON for cast, crew, and genres.
Why it is interesting to me: as a film consumer I want to know what the market actually pays for before a studio spends.
Questions: What drives revenue? Can a pre-release hit/flop classifier flag failures?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Sample (first three rows used in the paper)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42900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release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vote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Toy Story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1995-10-30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30,000,000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373,554,033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Jumanji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1995-12-15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65,000,000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262,797,249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Grumpier Old Men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1995-12-22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  FINRA equity short interest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Value: 22,581 names on 30 Sep 2026 with short shares, average daily volume, and days-to-cover. One file, one date.
Why it is interesting to me: squeeze risk and borrow demand are live issues in a hedge-fund seat.
Questions: Which names are heavily shorted relative to volume? Does counting shares vs days-to-cover change who looks crowded?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Sample (first three rows used in the paper)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42900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settlementDate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symbolCode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short shares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changePercent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daysToCover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2026-09-30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5,240,309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3.18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1.78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2026-09-30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11,725,447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-2.16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2026-09-30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AAA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7,957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456.82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Demo: decision tree vs linear discriminant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Task: flag a name as crowded when days-to-cover &gt; 5 on the 30 Sep 2026 FINRA file. Features: log average daily volume and market class. Zero-volume names dropped (n = 19,438). Held-out 30%. Majority class is 73.5% not-crowded.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2286000"/>
          <a:ext cx="57607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What the tree uses
First split: log(ADV) ≤ 6.20, i.e. volume under about 500 shares a day. Low-volume OTC names are the crowded class.
Tree accuracy 78.2%. LDA 78.7%. Both beat the 73.5% majority baseline by about five points.
Week 5 point: a linear discriminant and a shallow tree find the same volume story. Neither is a trading signal. Both show the label is partly a liquidity label.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Used in Milestone One Sections 1 to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Each dataset has a description, a data-quality problem, one or two learning types, and industry questions. Dataset 5 is the FINRA file shrt20260930.csv, not a 90-date stack.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